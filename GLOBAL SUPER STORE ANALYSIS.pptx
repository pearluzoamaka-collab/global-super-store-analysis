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E42B-0BAD-22B8-2D59-74E247ADD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A91CA-F1D3-B574-4D6C-14907045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B5F7-92DB-4C12-3E5B-7BF19C2D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EC29-3BDA-EB6D-D32D-AB41769B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8C2AC-B6DA-6041-5D22-4A2D75B4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4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4872-FE4F-C81A-69D6-6BB0746F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2664-7608-C2D2-2045-DDDD8C90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E432-6197-7FD9-E16A-7EFD43AB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A498-D41C-F6C7-3D95-20D524AF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F24D-8908-778A-0CB2-9CBCDBBD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3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CFD1-12CF-8EC7-8F2C-D481AE75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BD4EC-C9D3-BBAA-3E90-9DC454623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F122C-4EF3-6976-B1FF-E55C02B0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2B04-950C-9C11-AB2E-4FDDF9B7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50D09-70BC-F49F-8573-30FC7E7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091E-8F55-C19B-6F40-14F1AB0B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AC930-444E-4891-2718-72DE3782A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F2C75-C715-DA30-7EC3-F1A702FD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0EFDF-4C4F-20C0-8DC1-460BF013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CF798-A563-1B58-75ED-49A1D4FD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19019-1A8D-637E-2DF4-D7A03E9C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974F-2549-86A0-4F90-20EDAF9C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06F5C-4441-C785-D03D-0101FD2C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83F03-787A-A101-6813-0BA78CADE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0FED3-AB58-0545-6B2C-CEEDBED3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97C3-5891-898B-A10B-29F969377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7AA13-E94A-E91E-EE27-E2682A2D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DE08C-E4F5-89AB-A600-8536B657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09C08-7D16-8D23-249B-A82F54B9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5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A6F1-5BAA-30A2-E475-6495FF98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B665B-E7D8-CBE2-AACE-BD55067C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C01E3-02E5-9CB5-54D0-64CFA5BC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81E09-CE51-AE69-3413-05AA59FF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0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97A7B-FC6B-9990-EB20-AEB92EE9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E0443-987B-0504-72AB-9499BB4A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C6D96-0366-30DA-EE0D-06BE72F1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0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EE9D-3F21-7E3B-FC5E-A090996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7A88-3148-ED72-95FE-A0E50B20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C5643-9FF0-BF1D-7779-E8B121E4F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6FF4B-A7FB-7F8D-517E-CC260C35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1196D-ACF4-079B-821C-2C72AC27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2CE3E-E708-0C39-6ADA-C215EF3F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1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913F-D73E-05B2-4256-68AA3320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E5757-8C0E-CE38-A27A-24C7E1CDC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DF75B-B7E8-2252-28A3-057B3DBB1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FEFDC-60A3-4564-6219-73E13D3F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17A18-45A8-F4E5-36EB-648EF68C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22FA5-0AA6-55DA-7239-FA34DFD4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3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1ABE-19B4-BD59-7218-65B6A44C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293E6-A91D-F515-0347-CF11A1B4B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FF2AF-5778-BA81-97E7-A23BD7BF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B113-2B30-5083-1F5D-EBC2E72C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8DDA-7B7D-4D59-D09B-45DF52C7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0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F70C1-4BE0-7153-7C4C-6B29E201D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08E8B-20F9-C348-A99A-4572D0BEE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01E6-43C5-F4C9-EC6D-EC67B5F9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8CAD-4673-42CF-5406-D2E76C0A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BC0EB-EA19-30EB-0D2F-66F53104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8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E4592-8F42-3D20-E201-68C9934A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1FB4B-8EF3-47BC-4FF6-143E11488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9E50-EE76-48FF-D78E-66809F5C4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C5BEA-295E-40A1-926A-FBB03E03DA3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97855-6BD5-9647-DD3C-2E02E2C53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5354-FBAB-1E8E-F5C7-55F56A1A9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8B461-CABF-4773-8EAC-80327ADDE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6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0CF0-E90A-6E69-CDA7-B77F82DE0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SUPER STORE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073E4-E26D-FF91-DBD3-C3547126F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EZEUGO PEARL UZOAMAKA</a:t>
            </a:r>
          </a:p>
          <a:p>
            <a:r>
              <a:rPr lang="en-US" dirty="0"/>
              <a:t>EXCEL|POWER QUERY|POWER PIVOT|MEASURES</a:t>
            </a:r>
          </a:p>
          <a:p>
            <a:r>
              <a:rPr lang="en-US" dirty="0"/>
              <a:t>PROJECT: JADONS HUB MENTORSHIP PROGRAM</a:t>
            </a:r>
          </a:p>
        </p:txBody>
      </p:sp>
    </p:spTree>
    <p:extLst>
      <p:ext uri="{BB962C8B-B14F-4D97-AF65-F5344CB8AC3E}">
        <p14:creationId xmlns:p14="http://schemas.microsoft.com/office/powerpoint/2010/main" val="35939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440B-944B-C049-9F8D-1F045FBA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A8437-3A5B-4E05-3F38-B9414B5E0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72240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overall sales and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sub-categories that cause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trends to support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Analyze how to maximize profits and how this affect future decisions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38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6F96-5801-A9DD-B496-E8092501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D73A8-E247-67F4-86D5-23AC055B6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  <a:p>
            <a:pPr lvl="1"/>
            <a:r>
              <a:rPr lang="en-US" dirty="0"/>
              <a:t>Microsoft Excel</a:t>
            </a:r>
          </a:p>
          <a:p>
            <a:pPr lvl="1"/>
            <a:r>
              <a:rPr lang="en-US" dirty="0"/>
              <a:t>Power query</a:t>
            </a:r>
          </a:p>
          <a:p>
            <a:pPr lvl="1"/>
            <a:r>
              <a:rPr lang="en-US" dirty="0"/>
              <a:t>Power pivot</a:t>
            </a:r>
          </a:p>
          <a:p>
            <a:pPr lvl="1"/>
            <a:r>
              <a:rPr lang="en-US" dirty="0"/>
              <a:t>Measure</a:t>
            </a:r>
          </a:p>
          <a:p>
            <a:r>
              <a:rPr lang="en-US" dirty="0"/>
              <a:t>Dataset</a:t>
            </a:r>
          </a:p>
          <a:p>
            <a:pPr lvl="1"/>
            <a:r>
              <a:rPr lang="en-US" dirty="0"/>
              <a:t>Professional Identity Architecture - Global Super Store </a:t>
            </a:r>
          </a:p>
          <a:p>
            <a:r>
              <a:rPr lang="en-US" dirty="0"/>
              <a:t>Tables Created</a:t>
            </a:r>
          </a:p>
          <a:p>
            <a:pPr lvl="1"/>
            <a:r>
              <a:rPr lang="en-US" dirty="0"/>
              <a:t>Orders, Product, Calendar, Location, Customers</a:t>
            </a:r>
          </a:p>
        </p:txBody>
      </p:sp>
    </p:spTree>
    <p:extLst>
      <p:ext uri="{BB962C8B-B14F-4D97-AF65-F5344CB8AC3E}">
        <p14:creationId xmlns:p14="http://schemas.microsoft.com/office/powerpoint/2010/main" val="196255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EFE6-2FD9-533F-83C4-B6B50D97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8F579-8069-E9C7-ED2A-640A387CB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Orders, Products, Location, Customers, Calendar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90B6F892-2FEE-50EB-94D6-1F815D897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16" y="2356048"/>
            <a:ext cx="5875893" cy="35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5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FF41-CE38-A995-6AAD-AD88F93F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48F2-0A20-5F67-961D-232B30FAE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119" y="1522874"/>
            <a:ext cx="10515600" cy="4351338"/>
          </a:xfrm>
        </p:spPr>
        <p:txBody>
          <a:bodyPr/>
          <a:lstStyle/>
          <a:p>
            <a:r>
              <a:rPr lang="en-US" dirty="0"/>
              <a:t>Total Sales, Total Profit, Total Orders, Total Quantity, Profit Margin, Average Discount, Average Shipping Cost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4ED488-C109-40E5-8681-663984E83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57" y="2387862"/>
            <a:ext cx="4484426" cy="2947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B4D34D-FA74-0FDE-5BDA-4454EB88C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6" y="5365884"/>
            <a:ext cx="9974067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412A-CB86-6691-392C-00512CD4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DASHBOARDS</a:t>
            </a:r>
          </a:p>
        </p:txBody>
      </p:sp>
      <p:pic>
        <p:nvPicPr>
          <p:cNvPr id="7" name="Picture 6" descr="A screenshot of a computer screen">
            <a:extLst>
              <a:ext uri="{FF2B5EF4-FFF2-40B4-BE49-F238E27FC236}">
                <a16:creationId xmlns:a16="http://schemas.microsoft.com/office/drawing/2014/main" id="{AEFB9AB3-F1DB-92B4-760C-C01003A7E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96695"/>
            <a:ext cx="5249008" cy="370574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5C86FE-E630-1520-3CAF-E452DE307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TOP: KPI CARDS</a:t>
            </a:r>
          </a:p>
          <a:p>
            <a:r>
              <a:rPr lang="en-US" dirty="0"/>
              <a:t>MIDDLE: Sales distribution by </a:t>
            </a:r>
          </a:p>
          <a:p>
            <a:pPr marL="0" indent="0">
              <a:buNone/>
            </a:pPr>
            <a:r>
              <a:rPr lang="en-US" dirty="0"/>
              <a:t>category and sub category</a:t>
            </a:r>
          </a:p>
          <a:p>
            <a:r>
              <a:rPr lang="en-US" dirty="0"/>
              <a:t>Sales trend over time</a:t>
            </a:r>
          </a:p>
          <a:p>
            <a:r>
              <a:rPr lang="en-US" dirty="0"/>
              <a:t>Impact of discount on profit</a:t>
            </a:r>
          </a:p>
          <a:p>
            <a:r>
              <a:rPr lang="en-US" dirty="0"/>
              <a:t>BOTTOM: Prescriptive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57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586B-F1BB-03A1-C1AF-1D751B6E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62A0-7633-5DA2-C6A8-2D1AF600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show upward trend over time which signifies growth</a:t>
            </a:r>
          </a:p>
          <a:p>
            <a:r>
              <a:rPr lang="en-US" dirty="0"/>
              <a:t>Technology category generates the highest sales; Office Supplies the lowest</a:t>
            </a:r>
          </a:p>
          <a:p>
            <a:r>
              <a:rPr lang="en-US" dirty="0"/>
              <a:t>Certain sub-categories have high sales but negative profit margins like tables</a:t>
            </a:r>
          </a:p>
          <a:p>
            <a:r>
              <a:rPr lang="en-US" dirty="0"/>
              <a:t>Higher discounts and shipping costs yields low profitability</a:t>
            </a:r>
          </a:p>
          <a:p>
            <a:r>
              <a:rPr lang="en-US" dirty="0"/>
              <a:t>Consumer segment drives highest sales, but Corporate segment has better margins</a:t>
            </a:r>
          </a:p>
        </p:txBody>
      </p:sp>
    </p:spTree>
    <p:extLst>
      <p:ext uri="{BB962C8B-B14F-4D97-AF65-F5344CB8AC3E}">
        <p14:creationId xmlns:p14="http://schemas.microsoft.com/office/powerpoint/2010/main" val="259288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0454-88D3-A69A-82D7-FC32A1F0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C9D5-48CF-827F-F064-161DF3C5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discount policies for low-margin sub-categories</a:t>
            </a:r>
          </a:p>
          <a:p>
            <a:r>
              <a:rPr lang="en-US" dirty="0"/>
              <a:t>Optimize shipping modes to reduce </a:t>
            </a:r>
            <a:r>
              <a:rPr lang="en-US" dirty="0" err="1"/>
              <a:t>costPrioritize</a:t>
            </a:r>
            <a:r>
              <a:rPr lang="en-US" dirty="0"/>
              <a:t> high-margin </a:t>
            </a:r>
            <a:r>
              <a:rPr lang="en-US"/>
              <a:t>customer segments</a:t>
            </a:r>
          </a:p>
          <a:p>
            <a:r>
              <a:rPr lang="en-US"/>
              <a:t>Focus </a:t>
            </a:r>
            <a:r>
              <a:rPr lang="en-US" dirty="0"/>
              <a:t>marketing on high-profit sub-categories</a:t>
            </a:r>
          </a:p>
        </p:txBody>
      </p:sp>
    </p:spTree>
    <p:extLst>
      <p:ext uri="{BB962C8B-B14F-4D97-AF65-F5344CB8AC3E}">
        <p14:creationId xmlns:p14="http://schemas.microsoft.com/office/powerpoint/2010/main" val="34774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GLOBAL SUPER STORE ANALYSIS</vt:lpstr>
      <vt:lpstr>OBJECTIVES</vt:lpstr>
      <vt:lpstr>DATA PREPARATION</vt:lpstr>
      <vt:lpstr>TABLES</vt:lpstr>
      <vt:lpstr>MEASURES</vt:lpstr>
      <vt:lpstr>DASHBOARDS</vt:lpstr>
      <vt:lpstr>KEY INSIGHTS</vt:lpstr>
      <vt:lpstr>RECOMMENDATION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Pearl Festus</dc:creator>
  <cp:lastModifiedBy>Pearl Festus</cp:lastModifiedBy>
  <cp:revision>2</cp:revision>
  <dcterms:created xsi:type="dcterms:W3CDTF">2026-02-02T16:29:33Z</dcterms:created>
  <dcterms:modified xsi:type="dcterms:W3CDTF">2026-02-02T18:15:58Z</dcterms:modified>
</cp:coreProperties>
</file>